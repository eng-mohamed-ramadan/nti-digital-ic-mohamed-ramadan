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87171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0448176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49792709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2643123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741022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379359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252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0610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0231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52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686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037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35D4E5-65A4-BE17-0742-9FE87E25C4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125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17867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483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CCCC1-E418-7139-0E2C-61794DD52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8798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9311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5435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90CA4-80E5-8034-26C4-A3307FE62B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6787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842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2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E4FA95-03C2-701C-6EC1-DE4EEEBA6D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9859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75294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790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9A09D9-8F04-8845-0164-611B8F3420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444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1825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299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973A25-F2CF-738C-DD8B-9D5A0DD764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09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9925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5816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697011-3251-AD11-CEFA-2C9D42F20F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8068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832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223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25E337-9DBE-EDD6-51BD-A52173772D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633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446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04141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226CF9-B890-08E0-27C6-7E556D1B78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317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9717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55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BCA666-5324-21C1-4CF3-4166AEA136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1">
                <a:lumMod val="50000"/>
              </a:schemeClr>
            </a:gs>
            <a:gs pos="32000">
              <a:schemeClr val="accent2">
                <a:lumMod val="50000"/>
              </a:schemeClr>
            </a:gs>
            <a:gs pos="80000">
              <a:schemeClr val="tx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10709" name="Shape 1998852806"/>
          <p:cNvSpPr/>
          <p:nvPr/>
        </p:nvSpPr>
        <p:spPr bwMode="auto">
          <a:xfrm rot="0" flipH="0" flipV="0">
            <a:off x="0" y="0"/>
            <a:ext cx="12198094" cy="6858000"/>
          </a:xfrm>
          <a:custGeom>
            <a:avLst/>
            <a:gdLst/>
            <a:ahLst/>
            <a:cxnLst/>
            <a:rect l="0" t="0" r="r" b="b"/>
            <a:pathLst>
              <a:path w="11974958" h="6661194" fill="norm" stroke="1" extrusionOk="0">
                <a:moveTo>
                  <a:pt x="0" y="0"/>
                </a:moveTo>
                <a:cubicBezTo>
                  <a:pt x="0" y="0"/>
                  <a:pt x="11974958" y="0"/>
                  <a:pt x="11974958" y="0"/>
                </a:cubicBezTo>
                <a:cubicBezTo>
                  <a:pt x="11974958" y="0"/>
                  <a:pt x="11974957" y="6468203"/>
                  <a:pt x="11974957" y="6468203"/>
                </a:cubicBezTo>
                <a:cubicBezTo>
                  <a:pt x="11189698" y="6783155"/>
                  <a:pt x="9699108" y="6748947"/>
                  <a:pt x="9038579" y="6092750"/>
                </a:cubicBezTo>
                <a:cubicBezTo>
                  <a:pt x="8056839" y="5118385"/>
                  <a:pt x="8542376" y="4134151"/>
                  <a:pt x="8300730" y="3409738"/>
                </a:cubicBezTo>
                <a:cubicBezTo>
                  <a:pt x="8005759" y="2537759"/>
                  <a:pt x="6937295" y="2580626"/>
                  <a:pt x="5040890" y="2631665"/>
                </a:cubicBezTo>
                <a:cubicBezTo>
                  <a:pt x="2519743" y="2568136"/>
                  <a:pt x="0" y="923943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43999"/>
                </a:schemeClr>
              </a:gs>
              <a:gs pos="19000">
                <a:schemeClr val="accent2">
                  <a:lumMod val="50000"/>
                  <a:alpha val="43999"/>
                </a:schemeClr>
              </a:gs>
              <a:gs pos="53000">
                <a:schemeClr val="accent2">
                  <a:lumMod val="75000"/>
                  <a:alpha val="43999"/>
                </a:schemeClr>
              </a:gs>
              <a:gs pos="74000">
                <a:schemeClr val="accent2">
                  <a:lumMod val="50000"/>
                  <a:alpha val="43999"/>
                </a:schemeClr>
              </a:gs>
              <a:gs pos="96000">
                <a:schemeClr val="bg2">
                  <a:lumMod val="10000"/>
                  <a:alpha val="43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pic>
        <p:nvPicPr>
          <p:cNvPr id="1474254015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3430948" y="0"/>
            <a:ext cx="8915398" cy="6229350"/>
          </a:xfrm>
          <a:prstGeom prst="rect">
            <a:avLst/>
          </a:prstGeom>
        </p:spPr>
      </p:pic>
      <p:sp>
        <p:nvSpPr>
          <p:cNvPr id="1338973024" name=""/>
          <p:cNvSpPr/>
          <p:nvPr/>
        </p:nvSpPr>
        <p:spPr bwMode="auto">
          <a:xfrm flipH="0" flipV="0">
            <a:off x="3668730" y="0"/>
            <a:ext cx="8523266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66000"/>
                </a:schemeClr>
              </a:gs>
              <a:gs pos="19000">
                <a:schemeClr val="accent2">
                  <a:lumMod val="50000"/>
                  <a:alpha val="66000"/>
                </a:schemeClr>
              </a:gs>
              <a:gs pos="53000">
                <a:schemeClr val="accent2">
                  <a:lumMod val="75000"/>
                  <a:alpha val="66000"/>
                </a:schemeClr>
              </a:gs>
              <a:gs pos="74000">
                <a:schemeClr val="accent2">
                  <a:lumMod val="50000"/>
                  <a:alpha val="66000"/>
                </a:schemeClr>
              </a:gs>
              <a:gs pos="96000">
                <a:schemeClr val="bg2">
                  <a:lumMod val="10000"/>
                  <a:alpha val="66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566580828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841248" y="3429000"/>
            <a:ext cx="7315200" cy="1494752"/>
          </a:xfrm>
        </p:spPr>
        <p:txBody>
          <a:bodyPr anchor="b"/>
          <a:lstStyle>
            <a:lvl1pPr algn="l">
              <a:defRPr sz="5000"/>
            </a:lvl1pPr>
            <a:lvl2pPr algn="l">
              <a:defRPr sz="5000"/>
            </a:lvl2pPr>
            <a:lvl3pPr algn="l">
              <a:defRPr sz="5000"/>
            </a:lvl3pPr>
            <a:lvl4pPr algn="l">
              <a:defRPr sz="5000"/>
            </a:lvl4pPr>
            <a:lvl5pPr algn="l">
              <a:defRPr sz="5000"/>
            </a:lvl5pPr>
            <a:lvl6pPr algn="l">
              <a:defRPr sz="5000"/>
            </a:lvl6pPr>
            <a:lvl7pPr algn="l">
              <a:defRPr sz="5000"/>
            </a:lvl7pPr>
            <a:lvl8pPr algn="l">
              <a:defRPr sz="5000"/>
            </a:lvl8pPr>
            <a:lvl9pPr algn="l">
              <a:defRPr sz="5000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7889369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7" y="4942803"/>
            <a:ext cx="7315200" cy="909428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2000"/>
            </a:lvl3pPr>
            <a:lvl4pPr marL="1371600" indent="0" algn="l">
              <a:buNone/>
              <a:defRPr sz="2000"/>
            </a:lvl4pPr>
            <a:lvl5pPr marL="1828800" indent="0" algn="l">
              <a:buNone/>
              <a:defRPr sz="2000"/>
            </a:lvl5pPr>
            <a:lvl6pPr marL="2286000" indent="0" algn="l">
              <a:buNone/>
              <a:defRPr sz="2000"/>
            </a:lvl6pPr>
            <a:lvl7pPr marL="2743200" indent="0" algn="l">
              <a:buNone/>
              <a:defRPr sz="2000"/>
            </a:lvl7pPr>
            <a:lvl8pPr marL="3200400" indent="0" algn="l">
              <a:buNone/>
              <a:defRPr sz="2000"/>
            </a:lvl8pPr>
            <a:lvl9pPr marL="3657600" indent="0" algn="l">
              <a:buNone/>
              <a:defRPr sz="20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1179448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726277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38245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448838847" name=""/>
          <p:cNvSpPr/>
          <p:nvPr/>
        </p:nvSpPr>
        <p:spPr bwMode="auto">
          <a:xfrm rot="0" flipH="0" flipV="0">
            <a:off x="7370478" y="3545847"/>
            <a:ext cx="630526" cy="63052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40571880" name=""/>
          <p:cNvSpPr/>
          <p:nvPr/>
        </p:nvSpPr>
        <p:spPr bwMode="auto">
          <a:xfrm rot="8915418" flipH="0" flipV="0">
            <a:off x="6783862" y="2871367"/>
            <a:ext cx="266887" cy="266887"/>
          </a:xfrm>
          <a:prstGeom prst="ellipse">
            <a:avLst/>
          </a:prstGeom>
          <a:gradFill>
            <a:gsLst>
              <a:gs pos="0">
                <a:schemeClr val="accent3">
                  <a:lumMod val="50000"/>
                  <a:alpha val="70000"/>
                </a:schemeClr>
              </a:gs>
              <a:gs pos="61000">
                <a:schemeClr val="accent1">
                  <a:lumMod val="50000"/>
                  <a:alpha val="7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8506831" name=""/>
          <p:cNvSpPr/>
          <p:nvPr/>
        </p:nvSpPr>
        <p:spPr bwMode="auto">
          <a:xfrm rot="8915418" flipH="0" flipV="0">
            <a:off x="985449" y="853132"/>
            <a:ext cx="394734" cy="39473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9999"/>
                </a:schemeClr>
              </a:gs>
              <a:gs pos="100000">
                <a:schemeClr val="accent1">
                  <a:lumMod val="50000"/>
                  <a:alpha val="4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84300649" name=""/>
          <p:cNvPicPr>
            <a:picLocks noChangeAspect="1"/>
          </p:cNvPicPr>
          <p:nvPr/>
        </p:nvPicPr>
        <p:blipFill rotWithShape="1">
          <a:blip r:embed="rId3">
            <a:alphaModFix amt="33999"/>
          </a:blip>
          <a:stretch/>
        </p:blipFill>
        <p:spPr bwMode="auto">
          <a:xfrm flipH="0" flipV="0">
            <a:off x="5901354" y="0"/>
            <a:ext cx="6290644" cy="5619748"/>
          </a:xfrm>
          <a:prstGeom prst="rect">
            <a:avLst/>
          </a:prstGeom>
        </p:spPr>
      </p:pic>
      <p:grpSp>
        <p:nvGrpSpPr>
          <p:cNvPr id="1236143797" name=""/>
          <p:cNvGrpSpPr/>
          <p:nvPr/>
        </p:nvGrpSpPr>
        <p:grpSpPr bwMode="auto">
          <a:xfrm>
            <a:off x="6436433" y="0"/>
            <a:ext cx="5755562" cy="5185485"/>
            <a:chOff x="0" y="0"/>
            <a:chExt cx="5755562" cy="5185485"/>
          </a:xfrm>
        </p:grpSpPr>
        <p:sp>
          <p:nvSpPr>
            <p:cNvPr id="1645673733" name=""/>
            <p:cNvSpPr/>
            <p:nvPr/>
          </p:nvSpPr>
          <p:spPr bwMode="auto">
            <a:xfrm>
              <a:off x="0" y="0"/>
              <a:ext cx="5755562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4000">
                  <a:schemeClr val="accent2">
                    <a:lumMod val="75000"/>
                    <a:alpha val="99999"/>
                  </a:schemeClr>
                </a:gs>
                <a:gs pos="44000">
                  <a:schemeClr val="accent2">
                    <a:lumMod val="50000"/>
                    <a:alpha val="99999"/>
                  </a:schemeClr>
                </a:gs>
                <a:gs pos="96000">
                  <a:schemeClr val="bg2">
                    <a:lumMod val="10000"/>
                    <a:alpha val="99999"/>
                  </a:schemeClr>
                </a:gs>
              </a:gsLst>
              <a:lin ang="10200000" scaled="1"/>
            </a:gra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158680612" name=""/>
            <p:cNvSpPr/>
            <p:nvPr/>
          </p:nvSpPr>
          <p:spPr bwMode="auto">
            <a:xfrm>
              <a:off x="0" y="0"/>
              <a:ext cx="5755562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  <a:alpha val="66000"/>
                  </a:schemeClr>
                </a:gs>
                <a:gs pos="66000">
                  <a:schemeClr val="accent2">
                    <a:lumMod val="50000"/>
                    <a:alpha val="66000"/>
                  </a:schemeClr>
                </a:gs>
                <a:gs pos="96000">
                  <a:schemeClr val="bg2">
                    <a:lumMod val="10000"/>
                    <a:alpha val="66000"/>
                  </a:schemeClr>
                </a:gs>
              </a:gsLst>
              <a:lin ang="15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202637702" name=""/>
            <p:cNvSpPr/>
            <p:nvPr/>
          </p:nvSpPr>
          <p:spPr bwMode="auto">
            <a:xfrm>
              <a:off x="0" y="0"/>
              <a:ext cx="5755562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  <a:alpha val="66000"/>
                  </a:schemeClr>
                </a:gs>
                <a:gs pos="66000">
                  <a:schemeClr val="accent2">
                    <a:lumMod val="50000"/>
                    <a:alpha val="66000"/>
                  </a:schemeClr>
                </a:gs>
                <a:gs pos="96000">
                  <a:schemeClr val="bg2">
                    <a:lumMod val="10000"/>
                    <a:alpha val="66000"/>
                  </a:schemeClr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2049971112" name=""/>
            <p:cNvSpPr/>
            <p:nvPr/>
          </p:nvSpPr>
          <p:spPr bwMode="auto">
            <a:xfrm>
              <a:off x="0" y="0"/>
              <a:ext cx="5755562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12000">
                  <a:schemeClr val="accent2">
                    <a:lumMod val="40000"/>
                    <a:lumOff val="60000"/>
                    <a:alpha val="42000"/>
                  </a:schemeClr>
                </a:gs>
                <a:gs pos="82000">
                  <a:schemeClr val="accent2">
                    <a:lumMod val="50000"/>
                    <a:alpha val="42000"/>
                  </a:schemeClr>
                </a:gs>
                <a:gs pos="96000">
                  <a:schemeClr val="bg2">
                    <a:lumMod val="10000"/>
                    <a:alpha val="42000"/>
                  </a:schemeClr>
                </a:gs>
              </a:gsLst>
              <a:lin ang="177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8787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9961706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345577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851863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6405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814461944" name=""/>
          <p:cNvSpPr/>
          <p:nvPr/>
        </p:nvSpPr>
        <p:spPr bwMode="auto">
          <a:xfrm rot="5399976" flipH="0" flipV="0">
            <a:off x="2666403" y="-2667613"/>
            <a:ext cx="6879729" cy="1217141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046" y="43200"/>
                </a:lnTo>
                <a:cubicBezTo>
                  <a:pt x="39677" y="42246"/>
                  <a:pt x="34285" y="34057"/>
                  <a:pt x="32283" y="30754"/>
                </a:cubicBezTo>
                <a:cubicBezTo>
                  <a:pt x="28975" y="25293"/>
                  <a:pt x="30512" y="20870"/>
                  <a:pt x="29644" y="17212"/>
                </a:cubicBezTo>
                <a:cubicBezTo>
                  <a:pt x="28595" y="12807"/>
                  <a:pt x="23020" y="12984"/>
                  <a:pt x="15999" y="12617"/>
                </a:cubicBezTo>
                <a:cubicBezTo>
                  <a:pt x="7418" y="12251"/>
                  <a:pt x="0" y="4662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24999"/>
                </a:schemeClr>
              </a:gs>
              <a:gs pos="19000">
                <a:schemeClr val="accent2">
                  <a:lumMod val="50000"/>
                  <a:alpha val="24999"/>
                </a:schemeClr>
              </a:gs>
              <a:gs pos="53000">
                <a:schemeClr val="accent2">
                  <a:lumMod val="75000"/>
                  <a:alpha val="24999"/>
                </a:schemeClr>
              </a:gs>
              <a:gs pos="74000">
                <a:schemeClr val="accent2">
                  <a:lumMod val="50000"/>
                  <a:alpha val="24999"/>
                </a:schemeClr>
              </a:gs>
              <a:gs pos="96000">
                <a:schemeClr val="bg2">
                  <a:lumMod val="10000"/>
                  <a:alpha val="24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3979632" name=""/>
          <p:cNvSpPr/>
          <p:nvPr/>
        </p:nvSpPr>
        <p:spPr bwMode="auto">
          <a:xfrm rot="0" flipH="0" flipV="0">
            <a:off x="10887750" y="1168398"/>
            <a:ext cx="630525" cy="630525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659310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8" y="4928616"/>
            <a:ext cx="7324596" cy="1161032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628346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47314431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flipH="0" flipV="0">
            <a:off x="1327335" y="0"/>
            <a:ext cx="10864661" cy="6089648"/>
          </a:xfrm>
          <a:prstGeom prst="rect">
            <a:avLst/>
          </a:prstGeom>
          <a:ln w="12700">
            <a:noFill/>
          </a:ln>
        </p:spPr>
      </p:pic>
      <p:sp>
        <p:nvSpPr>
          <p:cNvPr id="1323393590" name=""/>
          <p:cNvSpPr/>
          <p:nvPr/>
        </p:nvSpPr>
        <p:spPr bwMode="auto">
          <a:xfrm flipH="0" flipV="0">
            <a:off x="1451574" y="0"/>
            <a:ext cx="10740420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60000"/>
                </a:schemeClr>
              </a:gs>
              <a:gs pos="19000">
                <a:schemeClr val="accent2">
                  <a:lumMod val="50000"/>
                  <a:alpha val="60000"/>
                </a:schemeClr>
              </a:gs>
              <a:gs pos="63000">
                <a:schemeClr val="accent2">
                  <a:lumMod val="50000"/>
                  <a:alpha val="60000"/>
                </a:schemeClr>
              </a:gs>
              <a:gs pos="96000">
                <a:schemeClr val="bg2">
                  <a:lumMod val="10000"/>
                  <a:alpha val="60000"/>
                </a:schemeClr>
              </a:gs>
            </a:gsLst>
            <a:lin ang="96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501997054" name=""/>
          <p:cNvSpPr/>
          <p:nvPr/>
        </p:nvSpPr>
        <p:spPr bwMode="auto">
          <a:xfrm rot="8915418" flipH="0" flipV="0">
            <a:off x="420507" y="961043"/>
            <a:ext cx="394733" cy="394733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30000"/>
                </a:schemeClr>
              </a:gs>
              <a:gs pos="100000">
                <a:schemeClr val="accent1">
                  <a:lumMod val="50000"/>
                  <a:alpha val="3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24043264" name=""/>
          <p:cNvSpPr/>
          <p:nvPr/>
        </p:nvSpPr>
        <p:spPr bwMode="auto">
          <a:xfrm rot="0" flipH="0" flipV="0">
            <a:off x="552288" y="3044823"/>
            <a:ext cx="630526" cy="63052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007797" name=""/>
          <p:cNvSpPr/>
          <p:nvPr/>
        </p:nvSpPr>
        <p:spPr bwMode="auto">
          <a:xfrm rot="1379112" flipH="0" flipV="0">
            <a:off x="1533259" y="2627385"/>
            <a:ext cx="276736" cy="27673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6965361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429000"/>
            <a:ext cx="7315200" cy="1499614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>
              <a:defRPr sz="5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5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5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50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50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5000"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 sz="5000"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 sz="5000"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 sz="5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</a:t>
            </a:r>
            <a:endParaRPr/>
          </a:p>
        </p:txBody>
      </p:sp>
      <p:sp>
        <p:nvSpPr>
          <p:cNvPr id="1389644621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8" y="4928616"/>
            <a:ext cx="7324596" cy="1161032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198773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9614211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3089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accent1">
                <a:lumMod val="50000"/>
              </a:schemeClr>
            </a:gs>
            <a:gs pos="42000">
              <a:schemeClr val="accent2">
                <a:lumMod val="50000"/>
              </a:schemeClr>
            </a:gs>
            <a:gs pos="100000">
              <a:schemeClr val="accent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14930" name=""/>
          <p:cNvSpPr/>
          <p:nvPr/>
        </p:nvSpPr>
        <p:spPr bwMode="auto">
          <a:xfrm rot="6613455" flipH="0" flipV="0">
            <a:off x="568918" y="5506504"/>
            <a:ext cx="597564" cy="59756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1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2111880" name=""/>
          <p:cNvSpPr/>
          <p:nvPr/>
        </p:nvSpPr>
        <p:spPr bwMode="auto">
          <a:xfrm rot="0" flipH="0" flipV="0">
            <a:off x="8314942" y="0"/>
            <a:ext cx="3877056" cy="6858000"/>
          </a:xfrm>
          <a:custGeom>
            <a:avLst/>
            <a:gdLst/>
            <a:ahLst/>
            <a:cxnLst/>
            <a:rect l="0" t="0" r="r" b="b"/>
            <a:pathLst>
              <a:path w="3881133" h="6687499" fill="norm" stroke="1" extrusionOk="0">
                <a:moveTo>
                  <a:pt x="0" y="0"/>
                </a:moveTo>
                <a:cubicBezTo>
                  <a:pt x="0" y="0"/>
                  <a:pt x="3881133" y="0"/>
                  <a:pt x="3881133" y="0"/>
                </a:cubicBezTo>
                <a:cubicBezTo>
                  <a:pt x="3881133" y="0"/>
                  <a:pt x="3881133" y="6687499"/>
                  <a:pt x="3881133" y="6687499"/>
                </a:cubicBezTo>
                <a:cubicBezTo>
                  <a:pt x="3306590" y="5940012"/>
                  <a:pt x="3104023" y="5612698"/>
                  <a:pt x="2884296" y="4952389"/>
                </a:cubicBezTo>
                <a:cubicBezTo>
                  <a:pt x="2563124" y="3988024"/>
                  <a:pt x="2682989" y="4268372"/>
                  <a:pt x="2589046" y="3959832"/>
                </a:cubicBezTo>
                <a:cubicBezTo>
                  <a:pt x="2387923" y="3275658"/>
                  <a:pt x="2548876" y="2819541"/>
                  <a:pt x="1542709" y="2175214"/>
                </a:cubicBezTo>
                <a:cubicBezTo>
                  <a:pt x="107271" y="1397486"/>
                  <a:pt x="0" y="914437"/>
                  <a:pt x="0" y="0"/>
                </a:cubicBezTo>
                <a:close/>
              </a:path>
            </a:pathLst>
          </a:custGeom>
          <a:gradFill>
            <a:gsLst>
              <a:gs pos="22000">
                <a:schemeClr val="accent2">
                  <a:lumMod val="50000"/>
                  <a:alpha val="42000"/>
                </a:schemeClr>
              </a:gs>
              <a:gs pos="74000">
                <a:schemeClr val="accent2">
                  <a:lumMod val="75000"/>
                  <a:alpha val="42000"/>
                </a:schemeClr>
              </a:gs>
              <a:gs pos="100000">
                <a:schemeClr val="accent3">
                  <a:lumMod val="75000"/>
                  <a:alpha val="4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851595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5675754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4341358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372775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827388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66594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489367847" name=""/>
          <p:cNvSpPr/>
          <p:nvPr/>
        </p:nvSpPr>
        <p:spPr bwMode="auto">
          <a:xfrm rot="8070705" flipH="0" flipV="0">
            <a:off x="2033082" y="5000095"/>
            <a:ext cx="349223" cy="349223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2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327045" name=""/>
          <p:cNvSpPr/>
          <p:nvPr/>
        </p:nvSpPr>
        <p:spPr bwMode="auto">
          <a:xfrm rot="5399976" flipH="0" flipV="0">
            <a:off x="2666403" y="-2667612"/>
            <a:ext cx="6879729" cy="1217141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046" y="43200"/>
                </a:lnTo>
                <a:cubicBezTo>
                  <a:pt x="39677" y="42246"/>
                  <a:pt x="34285" y="34057"/>
                  <a:pt x="32283" y="30754"/>
                </a:cubicBezTo>
                <a:cubicBezTo>
                  <a:pt x="28975" y="25293"/>
                  <a:pt x="30512" y="20870"/>
                  <a:pt x="29644" y="17212"/>
                </a:cubicBezTo>
                <a:cubicBezTo>
                  <a:pt x="28595" y="12807"/>
                  <a:pt x="23020" y="12984"/>
                  <a:pt x="15999" y="12617"/>
                </a:cubicBezTo>
                <a:cubicBezTo>
                  <a:pt x="7418" y="12251"/>
                  <a:pt x="0" y="4662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40000"/>
                </a:schemeClr>
              </a:gs>
              <a:gs pos="19000">
                <a:schemeClr val="accent2">
                  <a:lumMod val="50000"/>
                  <a:alpha val="40000"/>
                </a:schemeClr>
              </a:gs>
              <a:gs pos="46000">
                <a:schemeClr val="accent2">
                  <a:lumMod val="50000"/>
                  <a:alpha val="40000"/>
                </a:schemeClr>
              </a:gs>
              <a:gs pos="63000">
                <a:schemeClr val="accent2">
                  <a:lumMod val="50000"/>
                  <a:alpha val="40000"/>
                </a:schemeClr>
              </a:gs>
              <a:gs pos="96000">
                <a:schemeClr val="bg2">
                  <a:lumMod val="10000"/>
                  <a:alpha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5014501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06217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5" cy="823911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  <a:lvl6pPr marL="2286000" indent="0">
              <a:buNone/>
              <a:defRPr sz="2800" b="1"/>
            </a:lvl6pPr>
            <a:lvl7pPr marL="2743200" indent="0">
              <a:buNone/>
              <a:defRPr sz="2800" b="1"/>
            </a:lvl7pPr>
            <a:lvl8pPr marL="3200400" indent="0">
              <a:buNone/>
              <a:defRPr sz="2800" b="1"/>
            </a:lvl8pPr>
            <a:lvl9pPr marL="3657600" indent="0">
              <a:buNone/>
              <a:defRPr sz="28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735758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3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6735580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  <a:lvl6pPr marL="2286000" indent="0">
              <a:buNone/>
              <a:defRPr sz="2800" b="1"/>
            </a:lvl6pPr>
            <a:lvl7pPr marL="2743200" indent="0">
              <a:buNone/>
              <a:defRPr sz="2800" b="1"/>
            </a:lvl7pPr>
            <a:lvl8pPr marL="3200400" indent="0">
              <a:buNone/>
              <a:defRPr sz="2800" b="1"/>
            </a:lvl8pPr>
            <a:lvl9pPr marL="3657600" indent="0">
              <a:buNone/>
              <a:defRPr sz="28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7053355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3837705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5058965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19355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3383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6960747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5590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66956739" name=""/>
          <p:cNvSpPr/>
          <p:nvPr/>
        </p:nvSpPr>
        <p:spPr bwMode="auto">
          <a:xfrm flipH="1" flipV="0">
            <a:off x="0" y="0"/>
            <a:ext cx="6850011" cy="6687496"/>
          </a:xfrm>
          <a:custGeom>
            <a:avLst/>
            <a:gdLst/>
            <a:ahLst/>
            <a:cxnLst/>
            <a:rect l="0" t="0" r="r" b="b"/>
            <a:pathLst>
              <a:path w="3881133" h="6687499" fill="norm" stroke="1" extrusionOk="0">
                <a:moveTo>
                  <a:pt x="0" y="0"/>
                </a:moveTo>
                <a:cubicBezTo>
                  <a:pt x="0" y="0"/>
                  <a:pt x="3881133" y="0"/>
                  <a:pt x="3881133" y="0"/>
                </a:cubicBezTo>
                <a:cubicBezTo>
                  <a:pt x="3881133" y="0"/>
                  <a:pt x="3881133" y="6687499"/>
                  <a:pt x="3881133" y="6687499"/>
                </a:cubicBezTo>
                <a:cubicBezTo>
                  <a:pt x="3306590" y="5940012"/>
                  <a:pt x="3104023" y="5612698"/>
                  <a:pt x="2884296" y="4952389"/>
                </a:cubicBezTo>
                <a:cubicBezTo>
                  <a:pt x="2563124" y="3988024"/>
                  <a:pt x="2682989" y="4268372"/>
                  <a:pt x="2589046" y="3959832"/>
                </a:cubicBezTo>
                <a:cubicBezTo>
                  <a:pt x="2387923" y="3275658"/>
                  <a:pt x="2548876" y="2819541"/>
                  <a:pt x="1542709" y="2175214"/>
                </a:cubicBezTo>
                <a:cubicBezTo>
                  <a:pt x="107271" y="1397486"/>
                  <a:pt x="0" y="914437"/>
                  <a:pt x="0" y="0"/>
                </a:cubicBezTo>
                <a:close/>
              </a:path>
            </a:pathLst>
          </a:custGeom>
          <a:gradFill>
            <a:gsLst>
              <a:gs pos="4000">
                <a:schemeClr val="accent2">
                  <a:lumMod val="50000"/>
                  <a:alpha val="40000"/>
                </a:schemeClr>
              </a:gs>
              <a:gs pos="33000">
                <a:schemeClr val="accent1">
                  <a:lumMod val="50000"/>
                  <a:alpha val="40000"/>
                </a:schemeClr>
              </a:gs>
              <a:gs pos="74000">
                <a:schemeClr val="accent2">
                  <a:lumMod val="50000"/>
                  <a:alpha val="40000"/>
                </a:schemeClr>
              </a:gs>
              <a:gs pos="100000">
                <a:schemeClr val="accent3">
                  <a:lumMod val="75000"/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83188091" name=""/>
          <p:cNvSpPr/>
          <p:nvPr/>
        </p:nvSpPr>
        <p:spPr bwMode="auto">
          <a:xfrm rot="6613455" flipH="0" flipV="0">
            <a:off x="251867" y="297216"/>
            <a:ext cx="513414" cy="51341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1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128695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/>
              <a:t>Click to edit </a:t>
            </a:r>
            <a:endParaRPr/>
          </a:p>
        </p:txBody>
      </p:sp>
      <p:sp>
        <p:nvSpPr>
          <p:cNvPr id="2299420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91267451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6" y="457198"/>
            <a:ext cx="6172200" cy="540384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accent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6040087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3430947" y="0"/>
            <a:ext cx="8915397" cy="6229350"/>
          </a:xfrm>
          <a:prstGeom prst="rect">
            <a:avLst/>
          </a:prstGeom>
          <a:ln w="12700">
            <a:noFill/>
          </a:ln>
        </p:spPr>
      </p:pic>
      <p:sp>
        <p:nvSpPr>
          <p:cNvPr id="1960551290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6" y="3429000"/>
            <a:ext cx="7312150" cy="1325561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1503856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66392503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36363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495976960" name="Shape 1998852806"/>
          <p:cNvSpPr/>
          <p:nvPr/>
        </p:nvSpPr>
        <p:spPr bwMode="auto">
          <a:xfrm rot="0" flipH="0" flipV="0">
            <a:off x="0" y="0"/>
            <a:ext cx="12198093" cy="6858000"/>
          </a:xfrm>
          <a:custGeom>
            <a:avLst/>
            <a:gdLst/>
            <a:ahLst/>
            <a:cxnLst/>
            <a:rect l="0" t="0" r="r" b="b"/>
            <a:pathLst>
              <a:path w="11974958" h="6661194" fill="norm" stroke="1" extrusionOk="0">
                <a:moveTo>
                  <a:pt x="0" y="0"/>
                </a:moveTo>
                <a:cubicBezTo>
                  <a:pt x="0" y="0"/>
                  <a:pt x="11974958" y="0"/>
                  <a:pt x="11974958" y="0"/>
                </a:cubicBezTo>
                <a:cubicBezTo>
                  <a:pt x="11974958" y="0"/>
                  <a:pt x="11974957" y="6468203"/>
                  <a:pt x="11974957" y="6468203"/>
                </a:cubicBezTo>
                <a:cubicBezTo>
                  <a:pt x="11189698" y="6783155"/>
                  <a:pt x="9699108" y="6748947"/>
                  <a:pt x="9038579" y="6092750"/>
                </a:cubicBezTo>
                <a:cubicBezTo>
                  <a:pt x="8056839" y="5118385"/>
                  <a:pt x="8542376" y="4134151"/>
                  <a:pt x="8300730" y="3409738"/>
                </a:cubicBezTo>
                <a:cubicBezTo>
                  <a:pt x="8005759" y="2537759"/>
                  <a:pt x="6937295" y="2580626"/>
                  <a:pt x="5040890" y="2631665"/>
                </a:cubicBezTo>
                <a:cubicBezTo>
                  <a:pt x="2519743" y="2568136"/>
                  <a:pt x="0" y="923943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30000"/>
                </a:schemeClr>
              </a:gs>
              <a:gs pos="15000">
                <a:schemeClr val="accent3">
                  <a:lumMod val="75000"/>
                  <a:alpha val="30000"/>
                </a:schemeClr>
              </a:gs>
              <a:gs pos="32000">
                <a:schemeClr val="accent2">
                  <a:lumMod val="50000"/>
                  <a:alpha val="30000"/>
                </a:schemeClr>
              </a:gs>
              <a:gs pos="69000">
                <a:schemeClr val="accent2">
                  <a:lumMod val="50000"/>
                  <a:alpha val="30000"/>
                </a:schemeClr>
              </a:gs>
              <a:gs pos="96000">
                <a:schemeClr val="bg2">
                  <a:lumMod val="10000"/>
                  <a:alpha val="30000"/>
                </a:schemeClr>
              </a:gs>
            </a:gsLst>
            <a:lin ang="204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85060401" name=""/>
          <p:cNvSpPr/>
          <p:nvPr/>
        </p:nvSpPr>
        <p:spPr bwMode="auto">
          <a:xfrm flipH="0" flipV="0">
            <a:off x="3668729" y="0"/>
            <a:ext cx="8523265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31999"/>
                </a:schemeClr>
              </a:gs>
              <a:gs pos="19000">
                <a:schemeClr val="accent2">
                  <a:lumMod val="50000"/>
                  <a:alpha val="31999"/>
                </a:schemeClr>
              </a:gs>
              <a:gs pos="31000">
                <a:schemeClr val="accent3">
                  <a:lumMod val="75000"/>
                  <a:alpha val="31999"/>
                </a:schemeClr>
              </a:gs>
              <a:gs pos="53000">
                <a:schemeClr val="accent2">
                  <a:lumMod val="50000"/>
                  <a:alpha val="31999"/>
                </a:schemeClr>
              </a:gs>
              <a:gs pos="80000">
                <a:schemeClr val="accent2">
                  <a:lumMod val="50000"/>
                  <a:alpha val="31999"/>
                </a:schemeClr>
              </a:gs>
              <a:gs pos="100000">
                <a:schemeClr val="tx2">
                  <a:lumMod val="75000"/>
                  <a:alpha val="31999"/>
                </a:schemeClr>
              </a:gs>
            </a:gsLst>
            <a:lin ang="192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63135637" name=""/>
          <p:cNvSpPr/>
          <p:nvPr/>
        </p:nvSpPr>
        <p:spPr bwMode="auto">
          <a:xfrm rot="1608855" flipH="0" flipV="0">
            <a:off x="522936" y="1578480"/>
            <a:ext cx="630525" cy="630525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4423322" name=""/>
          <p:cNvSpPr/>
          <p:nvPr/>
        </p:nvSpPr>
        <p:spPr bwMode="auto">
          <a:xfrm rot="17382832" flipH="0" flipV="0">
            <a:off x="1318345" y="2482165"/>
            <a:ext cx="405916" cy="40591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42933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89725557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08355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892956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5381968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6" y="457198"/>
            <a:ext cx="6172200" cy="54038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4817383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478248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6970294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006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8151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2563692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307611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811860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0291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69696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8235769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29032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5212480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7060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93285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4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4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40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40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4000"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 sz="4000"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 sz="4000"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 sz="4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906871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4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785340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81941015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7595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774678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Systolic Array-Based Accelerator for CNNs</a:t>
            </a:r>
            <a:endParaRPr lang="en-US"/>
          </a:p>
        </p:txBody>
      </p:sp>
      <p:sp>
        <p:nvSpPr>
          <p:cNvPr id="1535111251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Prepared for:</a:t>
            </a:r>
            <a:br>
              <a:rPr lang="en-US"/>
            </a:br>
            <a:r>
              <a:rPr lang="en-US"/>
              <a:t>Eng: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Mohammed Salah Aboshosha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20782050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41247" y="518236"/>
            <a:ext cx="2499833" cy="1208252"/>
          </a:xfrm>
          <a:prstGeom prst="rect">
            <a:avLst/>
          </a:prstGeom>
        </p:spPr>
      </p:pic>
      <p:pic>
        <p:nvPicPr>
          <p:cNvPr id="124226142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009210" y="518236"/>
            <a:ext cx="2783466" cy="1364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7001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/>
              <a:t>Team Members</a:t>
            </a:r>
            <a:r>
              <a:rPr/>
              <a:t> Contributions</a:t>
            </a:r>
            <a:endParaRPr/>
          </a:p>
        </p:txBody>
      </p:sp>
      <p:graphicFrame>
        <p:nvGraphicFramePr>
          <p:cNvPr id="450768626" name=""/>
          <p:cNvGraphicFramePr>
            <a:graphicFrameLocks xmlns:a="http://schemas.openxmlformats.org/drawingml/2006/main"/>
          </p:cNvGraphicFramePr>
          <p:nvPr/>
        </p:nvGraphicFramePr>
        <p:xfrm rot="0">
          <a:off x="691985" y="1741439"/>
          <a:ext cx="8127999" cy="35356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5164043"/>
                <a:gridCol w="5164043"/>
              </a:tblGrid>
              <a:tr h="74199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/>
                        <a:t>Name</a:t>
                      </a:r>
                      <a:endParaRPr sz="2800"/>
                    </a:p>
                  </a:txBody>
                  <a:tcPr anchor="ctr">
                    <a:lnR w="28575" algn="ctr">
                      <a:solidFill>
                        <a:schemeClr val="bg1"/>
                      </a:solidFill>
                    </a:lnR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/>
                        <a:t>Contribution</a:t>
                      </a:r>
                      <a:endParaRPr sz="2800"/>
                    </a:p>
                  </a:txBody>
                  <a:tcPr anchor="ctr">
                    <a:lnL w="28575" algn="ctr">
                      <a:solidFill>
                        <a:schemeClr val="bg1"/>
                      </a:solidFill>
                    </a:lnL>
                    <a:noFill/>
                  </a:tcPr>
                </a:tc>
              </a:tr>
              <a:tr h="72806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>
                          <a:solidFill>
                            <a:schemeClr val="bg1"/>
                          </a:solidFill>
                        </a:rPr>
                        <a:t>Adel Wael</a:t>
                      </a:r>
                      <a:endParaRPr sz="2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algn="ctr">
                      <a:solidFill>
                        <a:schemeClr val="bg1"/>
                      </a:solidFill>
                    </a:lnR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>
                          <a:solidFill>
                            <a:schemeClr val="bg1"/>
                          </a:solidFill>
                        </a:rPr>
                        <a:t>Test Benches</a:t>
                      </a:r>
                      <a:endParaRPr sz="2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algn="ctr">
                      <a:solidFill>
                        <a:schemeClr val="bg1"/>
                      </a:solidFill>
                    </a:lnL>
                    <a:noFill/>
                  </a:tcPr>
                </a:tc>
              </a:tr>
              <a:tr h="72086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>
                          <a:solidFill>
                            <a:schemeClr val="bg1"/>
                          </a:solidFill>
                        </a:rPr>
                        <a:t>Mohamed Ramadan Mostafa</a:t>
                      </a:r>
                      <a:endParaRPr sz="2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algn="ctr">
                      <a:solidFill>
                        <a:schemeClr val="bg1"/>
                      </a:solidFill>
                    </a:lnR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>
                          <a:solidFill>
                            <a:schemeClr val="bg1"/>
                          </a:solidFill>
                        </a:rPr>
                        <a:t>Systolic Array and Delay</a:t>
                      </a:r>
                      <a:endParaRPr sz="2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algn="ctr">
                      <a:solidFill>
                        <a:schemeClr val="bg1"/>
                      </a:solidFill>
                    </a:lnL>
                    <a:noFill/>
                  </a:tcPr>
                </a:tc>
              </a:tr>
              <a:tr h="72806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>
                          <a:solidFill>
                            <a:schemeClr val="bg1"/>
                          </a:solidFill>
                        </a:rPr>
                        <a:t>Kirollos Ibrahim</a:t>
                      </a:r>
                      <a:endParaRPr sz="2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algn="ctr">
                      <a:solidFill>
                        <a:schemeClr val="bg1"/>
                      </a:solidFill>
                    </a:lnR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>
                          <a:solidFill>
                            <a:schemeClr val="bg1"/>
                          </a:solidFill>
                        </a:rPr>
                        <a:t>Processing Element</a:t>
                      </a:r>
                      <a:endParaRPr sz="2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algn="ctr">
                      <a:solidFill>
                        <a:schemeClr val="bg1"/>
                      </a:solidFill>
                    </a:lnL>
                    <a:noFill/>
                  </a:tcPr>
                </a:tc>
              </a:tr>
              <a:tr h="72806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>
                          <a:solidFill>
                            <a:schemeClr val="bg1"/>
                          </a:solidFill>
                        </a:rPr>
                        <a:t>Youssef Michel</a:t>
                      </a:r>
                      <a:endParaRPr sz="2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algn="ctr">
                      <a:solidFill>
                        <a:schemeClr val="bg1"/>
                      </a:solidFill>
                    </a:lnR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>
                          <a:solidFill>
                            <a:schemeClr val="bg1"/>
                          </a:solidFill>
                        </a:rPr>
                        <a:t>Python Code Program</a:t>
                      </a:r>
                      <a:endParaRPr sz="2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algn="ctr">
                      <a:solidFill>
                        <a:schemeClr val="bg1"/>
                      </a:solidFill>
                    </a:lnL>
                    <a:noFill/>
                  </a:tcPr>
                </a:tc>
              </a:tr>
              <a:tr h="72806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>
                          <a:solidFill>
                            <a:schemeClr val="bg1"/>
                          </a:solidFill>
                        </a:rPr>
                        <a:t>Mohamed Atif</a:t>
                      </a:r>
                      <a:endParaRPr sz="2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algn="ctr">
                      <a:solidFill>
                        <a:schemeClr val="bg1"/>
                      </a:solidFill>
                    </a:lnR>
                    <a:noFill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>
                          <a:solidFill>
                            <a:schemeClr val="bg1"/>
                          </a:solidFill>
                        </a:rPr>
                        <a:t>Image to Column, FIFO and Control</a:t>
                      </a:r>
                      <a:endParaRPr sz="2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algn="ctr">
                      <a:solidFill>
                        <a:schemeClr val="bg1"/>
                      </a:solidFill>
                    </a:lnL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2416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Introduction</a:t>
            </a:r>
            <a:endParaRPr/>
          </a:p>
        </p:txBody>
      </p:sp>
      <p:sp>
        <p:nvSpPr>
          <p:cNvPr id="7886566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2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Convolutional Neural Networks (CNNs) are widely used in image processing and computer vision.</a:t>
            </a:r>
            <a:endParaRPr lang="en-US" sz="2200" b="0" i="0" u="none" strike="noStrike" cap="none" spc="0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CNNs require a large number of multiplication and accumulation operations, resulting in high computational demands.</a:t>
            </a:r>
            <a:endParaRPr lang="en-US" sz="2200" b="0" i="0" u="none" strike="noStrike" cap="none" spc="0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Our project focuses on developing a hardware accelerator to execute these operations efficiently.</a:t>
            </a:r>
            <a:endParaRPr lang="en-US" sz="2200" b="0" i="0" u="none" strike="noStrike" cap="none" spc="0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The accelerator uses a Systolic Array of Processing Elements (PEs) to perform computations in parallel.</a:t>
            </a:r>
            <a:endParaRPr lang="en-US" sz="2200" b="0" i="0" u="none" strike="noStrike" cap="none" spc="0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Convolution operations are converted into matrix multiplication, allowing the systolic array to achieve high computational throughput.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821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Software Bottlenecks</a:t>
            </a:r>
            <a:endParaRPr/>
          </a:p>
        </p:txBody>
      </p:sp>
      <p:sp>
        <p:nvSpPr>
          <p:cNvPr id="94287336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spcAft>
                <a:spcPts val="0"/>
              </a:spcAft>
              <a:buFont typeface="Wingdings"/>
              <a:buChar char="w"/>
              <a:defRPr/>
            </a:pPr>
            <a:r>
              <a:rPr lang="en-US" sz="2400" b="1" i="0" u="none" strike="noStrike" cap="none" spc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Loop &amp; Instruction Overhead</a:t>
            </a:r>
            <a:endParaRPr sz="2400" b="1"/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    Normal CPUs use software loops to perform matrix multiplication. This requires many instructions to be fetched, decoded, and executed, which adds extra time and processing overhead.</a:t>
            </a:r>
            <a:endParaRPr sz="2400"/>
          </a:p>
          <a:p>
            <a:pPr>
              <a:spcAft>
                <a:spcPts val="0"/>
              </a:spcAft>
              <a:buFont typeface="Wingdings"/>
              <a:buChar char="w"/>
              <a:defRPr/>
            </a:pPr>
            <a:r>
              <a:rPr lang="en-US" sz="2400" b="1" i="0" u="none" strike="noStrike" cap="none" spc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The Memory Wall</a:t>
            </a:r>
            <a:endParaRPr sz="2400" b="1"/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    Traditional CPUs need to get data from main memory for each Multiply-Accumulate (MAC) operation. Because memory is slower than the processor, this can cause delays and limit performance.</a:t>
            </a:r>
            <a:endParaRPr sz="2400"/>
          </a:p>
          <a:p>
            <a:pPr>
              <a:spcAft>
                <a:spcPts val="0"/>
              </a:spcAft>
              <a:buFont typeface="Wingdings"/>
              <a:buChar char="w"/>
              <a:defRPr/>
            </a:pPr>
            <a:r>
              <a:rPr lang="en-US" sz="2400" b="1" i="0" u="none" strike="noStrike" cap="none" spc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Power Inefficiency</a:t>
            </a:r>
            <a:endParaRPr sz="2400" b="1"/>
          </a:p>
          <a:p>
            <a:pPr marL="0" indent="0">
              <a:buFont typeface="Wingdings"/>
              <a:buNone/>
              <a:defRPr/>
            </a:pPr>
            <a:r>
              <a:rPr lang="en-US" sz="2400" b="0" i="0" u="none" strike="noStrike" cap="none" spc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    Moving data between memory and the CPU uses a lot of power. In many cases, moving the data consumes more energy than performing the actual calculations.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263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Hardware Acceleration</a:t>
            </a:r>
            <a:endParaRPr/>
          </a:p>
        </p:txBody>
      </p:sp>
      <p:sp>
        <p:nvSpPr>
          <p:cNvPr id="80123859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spcAft>
                <a:spcPts val="0"/>
              </a:spcAft>
              <a:buFont typeface="Wingdings"/>
              <a:buChar char="w"/>
              <a:defRPr/>
            </a:pPr>
            <a:r>
              <a:rPr lang="en-US" sz="2200" b="1" i="0" u="none" strike="noStrike" cap="none" spc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Spatial Processing Grid</a:t>
            </a:r>
            <a:endParaRPr sz="2200" b="1"/>
          </a:p>
          <a:p>
            <a:pPr marL="0" indent="0">
              <a:buFont typeface="Arial"/>
              <a:buNone/>
              <a:defRPr/>
            </a:pPr>
            <a:r>
              <a:rPr lang="en-US" sz="2200" b="0" i="0" u="none" strike="noStrike" cap="none" spc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    Replaces sequential instruction execution with a parallel 2D Processing Element (PE) grid.</a:t>
            </a:r>
            <a:endParaRPr sz="2200"/>
          </a:p>
          <a:p>
            <a:pPr>
              <a:spcAft>
                <a:spcPts val="0"/>
              </a:spcAft>
              <a:buFont typeface="Wingdings"/>
              <a:buChar char="w"/>
              <a:defRPr/>
            </a:pPr>
            <a:r>
              <a:rPr lang="en-US" sz="2200" b="1" i="0" u="none" strike="noStrike" cap="none" spc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Local Data Reuse</a:t>
            </a:r>
            <a:endParaRPr lang="en-US" sz="2200" b="0" i="0" u="none" strike="noStrike" cap="none" spc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endParaRPr>
          </a:p>
          <a:p>
            <a:pPr marL="0" indent="0">
              <a:spcAft>
                <a:spcPts val="0"/>
              </a:spcAft>
              <a:buFont typeface="Wingdings"/>
              <a:buNone/>
              <a:defRPr/>
            </a:pPr>
            <a:r>
              <a:rPr lang="en-US" sz="22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Microsoft YaHei"/>
                <a:cs typeface="Arial"/>
              </a:rPr>
              <a:t>    Input operands stream across adjacent PEs,						    reusing data horizontally and vertically without repeated memory reads</a:t>
            </a:r>
            <a:r>
              <a:rPr lang="en-US" sz="22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Microsoft YaHei"/>
                <a:cs typeface="Arial"/>
              </a:rPr>
              <a:t>.</a:t>
            </a:r>
            <a:endParaRPr lang="en-US" sz="2200" b="0" i="0" u="none" strike="noStrike" cap="none" spc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endParaRPr>
          </a:p>
          <a:p>
            <a:pPr>
              <a:spcAft>
                <a:spcPts val="0"/>
              </a:spcAft>
              <a:buFont typeface="Wingdings"/>
              <a:buChar char="w"/>
              <a:defRPr/>
            </a:pPr>
            <a:r>
              <a:rPr lang="en-US" sz="2200" b="1" i="0" u="none" strike="noStrike" cap="none" spc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Power Inefficiency</a:t>
            </a:r>
            <a:endParaRPr sz="2200" b="1"/>
          </a:p>
          <a:p>
            <a:pPr marL="0" indent="0">
              <a:buFont typeface="Arial"/>
              <a:buNone/>
              <a:defRPr/>
            </a:pPr>
            <a:r>
              <a:rPr lang="en-US" sz="2200" b="0" i="0" u="none" strike="noStrike" cap="none" spc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    Synchronous FIFOs decouple high-speed hardware matrix processing from lower-speed system/bus reading domains</a:t>
            </a:r>
            <a:r>
              <a:rPr sz="2200"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4674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Top-Level Architecture</a:t>
            </a:r>
            <a:endParaRPr/>
          </a:p>
        </p:txBody>
      </p:sp>
      <p:pic>
        <p:nvPicPr>
          <p:cNvPr id="10426737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01449" y="2002013"/>
            <a:ext cx="6770746" cy="3712985"/>
          </a:xfrm>
          <a:prstGeom prst="rect">
            <a:avLst/>
          </a:prstGeom>
        </p:spPr>
      </p:pic>
      <p:sp>
        <p:nvSpPr>
          <p:cNvPr id="343681447" name="Content Placeholder 2"/>
          <p:cNvSpPr>
            <a:spLocks noGrp="1"/>
          </p:cNvSpPr>
          <p:nvPr>
            <p:ph idx="1"/>
          </p:nvPr>
        </p:nvSpPr>
        <p:spPr bwMode="auto">
          <a:xfrm>
            <a:off x="441322" y="1825623"/>
            <a:ext cx="10515600" cy="4351338"/>
          </a:xfrm>
        </p:spPr>
        <p:txBody>
          <a:bodyPr/>
          <a:lstStyle/>
          <a:p>
            <a:pPr>
              <a:buFont typeface="Wingdings"/>
              <a:buChar char="w"/>
              <a:defRPr/>
            </a:pPr>
            <a:r>
              <a:rPr sz="2400" b="1"/>
              <a:t>Top Module</a:t>
            </a:r>
            <a:r>
              <a:rPr sz="2400" b="1"/>
              <a:t>:</a:t>
            </a:r>
            <a:r>
              <a:rPr sz="2400"/>
              <a:t> systolic_array_ai</a:t>
            </a:r>
            <a:endParaRPr sz="2000"/>
          </a:p>
          <a:p>
            <a:pPr lvl="1">
              <a:buFont typeface="Wingdings"/>
              <a:buChar char="w"/>
              <a:defRPr/>
            </a:pPr>
            <a:r>
              <a:rPr sz="2200"/>
              <a:t>Systolic Array Engine</a:t>
            </a:r>
            <a:br>
              <a:rPr sz="2200"/>
            </a:br>
            <a:r>
              <a:rPr sz="2200"/>
              <a:t>(3x3 Matrix Core)</a:t>
            </a:r>
            <a:br>
              <a:rPr sz="2200"/>
            </a:br>
            <a:r>
              <a:rPr sz="2200"/>
              <a:t>Module Name:</a:t>
            </a:r>
            <a:r>
              <a:rPr sz="220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sz="2200"/>
              <a:t>systolic_array</a:t>
            </a:r>
            <a:br>
              <a:rPr lang="ar-EG" sz="2200"/>
            </a:br>
            <a:endParaRPr sz="2200"/>
          </a:p>
          <a:p>
            <a:pPr lvl="1">
              <a:buFont typeface="Wingdings"/>
              <a:buChar char="w"/>
              <a:defRPr/>
            </a:pPr>
            <a:r>
              <a:rPr sz="2200"/>
              <a:t>Control System Unit </a:t>
            </a:r>
            <a:br>
              <a:rPr sz="2200"/>
            </a:br>
            <a:r>
              <a:rPr sz="2200"/>
              <a:t>(FSM and Control Signals)</a:t>
            </a:r>
            <a:br>
              <a:rPr sz="2200"/>
            </a:br>
            <a:r>
              <a:rPr sz="2200"/>
              <a:t>Module Name: </a:t>
            </a:r>
            <a:r>
              <a:rPr sz="2200"/>
              <a:t>control_system1</a:t>
            </a:r>
            <a:br>
              <a:rPr sz="2200"/>
            </a:br>
            <a:endParaRPr sz="2200"/>
          </a:p>
          <a:p>
            <a:pPr lvl="1">
              <a:buFont typeface="Wingdings"/>
              <a:buChar char="w"/>
              <a:defRPr/>
            </a:pPr>
            <a:r>
              <a:rPr sz="2200"/>
              <a:t>Synchronous</a:t>
            </a:r>
            <a:r>
              <a:rPr sz="2200"/>
              <a:t> FIFO Array</a:t>
            </a:r>
            <a:br>
              <a:rPr sz="2200"/>
            </a:br>
            <a:r>
              <a:rPr sz="2200"/>
              <a:t>(3x Output Channels)</a:t>
            </a:r>
            <a:br>
              <a:rPr sz="2200"/>
            </a:br>
            <a:r>
              <a:rPr sz="2200"/>
              <a:t>Module Name: </a:t>
            </a:r>
            <a:r>
              <a:rPr sz="2200"/>
              <a:t>sync_fifo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0220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19674" y="1343024"/>
            <a:ext cx="9601200" cy="6858000"/>
          </a:xfrm>
          <a:prstGeom prst="rect">
            <a:avLst/>
          </a:prstGeom>
        </p:spPr>
      </p:pic>
      <p:sp>
        <p:nvSpPr>
          <p:cNvPr id="7394249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Processing Element (PE)</a:t>
            </a:r>
            <a:endParaRPr/>
          </a:p>
        </p:txBody>
      </p:sp>
      <p:sp>
        <p:nvSpPr>
          <p:cNvPr id="153311438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59299" y="1825624"/>
            <a:ext cx="11515725" cy="4351338"/>
          </a:xfrm>
        </p:spPr>
        <p:txBody>
          <a:bodyPr/>
          <a:lstStyle/>
          <a:p>
            <a:pPr lvl="0">
              <a:buFont typeface="Wingdings"/>
              <a:buChar char="§"/>
              <a:defRPr/>
            </a:pPr>
            <a:r>
              <a:rPr sz="2400"/>
              <a:t>Module Name: PE</a:t>
            </a:r>
            <a:endParaRPr sz="2200"/>
          </a:p>
          <a:p>
            <a:pPr lvl="0">
              <a:buFont typeface="Wingdings"/>
              <a:buChar char="§"/>
              <a:defRPr/>
            </a:pPr>
            <a:r>
              <a:rPr sz="2400"/>
              <a:t>Function: serves as the fundamental unit performing </a:t>
            </a:r>
            <a:r>
              <a:rPr sz="2400"/>
              <a:t>MAC operations across the matrix grid.</a:t>
            </a:r>
            <a:endParaRPr sz="2200"/>
          </a:p>
          <a:p>
            <a:pPr lvl="0">
              <a:buFont typeface="Wingdings"/>
              <a:buChar char="§"/>
              <a:defRPr/>
            </a:pPr>
            <a:r>
              <a:rPr sz="2400"/>
              <a:t>Registers: registers input operands (in_PE_a, in_PE_b) to forward them to neighboring right and bottom PEs (out_PE_a, out_PE_b)</a:t>
            </a:r>
            <a:br>
              <a:rPr sz="2400"/>
            </a:br>
            <a:r>
              <a:rPr sz="2400"/>
              <a:t> on every clock edge.</a:t>
            </a:r>
            <a:endParaRPr sz="2200"/>
          </a:p>
          <a:p>
            <a:pPr lvl="0">
              <a:buFont typeface="Wingdings"/>
              <a:buChar char="§"/>
              <a:defRPr/>
            </a:pPr>
            <a:r>
              <a:rPr sz="2400"/>
              <a:t>Accumulation </a:t>
            </a:r>
            <a:r>
              <a:rPr sz="2400"/>
              <a:t>Logic:</a:t>
            </a:r>
            <a:endParaRPr sz="2200"/>
          </a:p>
          <a:p>
            <a:pPr lvl="1"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When in_PE_valid = 1</a:t>
            </a:r>
            <a:r>
              <a:rPr sz="2000"/>
              <a:t>: accumulates product into</a:t>
            </a:r>
            <a:br>
              <a:rPr sz="2000"/>
            </a:br>
            <a:r>
              <a:rPr sz="2000"/>
              <a:t> register </a:t>
            </a:r>
            <a:r>
              <a:rPr sz="2000" b="1"/>
              <a:t>out_PE_acc = out_PE_acc + (a * b)</a:t>
            </a:r>
            <a:endParaRPr sz="2000"/>
          </a:p>
          <a:p>
            <a:pPr lvl="1">
              <a:buFont typeface="Wingdings"/>
              <a:buChar char="§"/>
              <a:defRPr/>
            </a:pPr>
            <a:r>
              <a:rPr sz="2000"/>
              <a:t>When in_PE_valid = 0: overwrites accumulation with</a:t>
            </a:r>
            <a:br>
              <a:rPr sz="2000"/>
            </a:br>
            <a:r>
              <a:rPr sz="2000"/>
              <a:t> fresh product </a:t>
            </a:r>
            <a:r>
              <a:rPr sz="2000" b="1"/>
              <a:t>out_PE_acc = a * b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697259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477850" y="416394"/>
            <a:ext cx="8238150" cy="5884392"/>
          </a:xfrm>
          <a:prstGeom prst="rect">
            <a:avLst/>
          </a:prstGeom>
        </p:spPr>
      </p:pic>
      <p:sp>
        <p:nvSpPr>
          <p:cNvPr id="8299583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Delay Skewing</a:t>
            </a:r>
            <a:endParaRPr/>
          </a:p>
        </p:txBody>
      </p:sp>
      <p:sp>
        <p:nvSpPr>
          <p:cNvPr id="14724420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Font typeface="Wingdings"/>
              <a:buChar char="§"/>
              <a:defRPr/>
            </a:pPr>
            <a:r>
              <a:rPr/>
              <a:t>Module Name: DELAY</a:t>
            </a:r>
            <a:br>
              <a:rPr/>
            </a:br>
            <a:endParaRPr/>
          </a:p>
          <a:p>
            <a:pPr>
              <a:buFont typeface="Wingdings"/>
              <a:buChar char="§"/>
              <a:defRPr/>
            </a:pPr>
            <a:r>
              <a:rPr/>
              <a:t>Function: align matrix inputs temporarily</a:t>
            </a:r>
            <a:br>
              <a:rPr/>
            </a:br>
            <a:r>
              <a:rPr/>
              <a:t> so row and column elements arrive at</a:t>
            </a:r>
            <a:br>
              <a:rPr/>
            </a:br>
            <a:r>
              <a:rPr/>
              <a:t> the correct PE simultaneously.</a:t>
            </a:r>
            <a:br>
              <a:rPr/>
            </a:br>
            <a:endParaRPr/>
          </a:p>
          <a:p>
            <a:pPr>
              <a:buFont typeface="Wingdings"/>
              <a:buChar char="§"/>
              <a:defRPr/>
            </a:pPr>
            <a:r>
              <a:rPr/>
              <a:t>Configuration:</a:t>
            </a:r>
            <a:endParaRPr/>
          </a:p>
          <a:p>
            <a:pPr lvl="1">
              <a:buFont typeface="Wingdings"/>
              <a:buChar char="§"/>
              <a:defRPr/>
            </a:pPr>
            <a:r>
              <a:rPr/>
              <a:t>Row 0 / Column 0: direct input (0 cycle delay).</a:t>
            </a:r>
            <a:endParaRPr/>
          </a:p>
          <a:p>
            <a:pPr lvl="1">
              <a:buFont typeface="Wingdings"/>
              <a:buChar char="§"/>
              <a:defRPr/>
            </a:pPr>
            <a:r>
              <a:rPr/>
              <a:t>Row 1 / Column 1: shifted be 1 clock cycle (DELAY_CYCLE = 1).</a:t>
            </a:r>
            <a:endParaRPr/>
          </a:p>
          <a:p>
            <a:pPr lvl="1"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Row 2 / Column 2: shifted be 2 clock cycle (DELAY_CYCLE = 2).</a:t>
            </a:r>
            <a:endParaRPr sz="2000"/>
          </a:p>
        </p:txBody>
      </p:sp>
      <p:pic>
        <p:nvPicPr>
          <p:cNvPr id="103058502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049474" y="-909970"/>
            <a:ext cx="7028473" cy="5020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7066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FSM Control System</a:t>
            </a:r>
            <a:endParaRPr/>
          </a:p>
        </p:txBody>
      </p:sp>
      <p:sp>
        <p:nvSpPr>
          <p:cNvPr id="798006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Font typeface="Wingdings"/>
              <a:buChar char="§"/>
              <a:defRPr/>
            </a:pPr>
            <a:r>
              <a:rPr/>
              <a:t>Module Name: control_system1</a:t>
            </a:r>
            <a:endParaRPr/>
          </a:p>
          <a:p>
            <a:pPr>
              <a:buFont typeface="Wingdings"/>
              <a:buChar char="§"/>
              <a:defRPr/>
            </a:pPr>
            <a:r>
              <a:rPr/>
              <a:t>Control Output Signals:</a:t>
            </a:r>
            <a:endParaRPr/>
          </a:p>
          <a:p>
            <a:pPr lvl="1">
              <a:buFont typeface="Wingdings"/>
              <a:buChar char="§"/>
              <a:defRPr/>
            </a:pPr>
            <a:r>
              <a:rPr/>
              <a:t>Valid Flag (out_cs_valid):</a:t>
            </a:r>
            <a:r>
              <a:rPr lang="en-US" sz="20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 asserts high when computation is active and no FIFO buffer is in a full state (!in_cs_full1 &amp;&amp; !in_cs_full2 &amp;&amp; !in_cs_full3).</a:t>
            </a:r>
            <a:br>
              <a:rPr/>
            </a:br>
            <a:endParaRPr/>
          </a:p>
          <a:p>
            <a:pPr lvl="1">
              <a:buFont typeface="Wingdings"/>
              <a:buChar char="§"/>
              <a:defRPr/>
            </a:pPr>
            <a:r>
              <a:rPr/>
              <a:t>Multiplexer Controls (out_cs_ctrl1_3): </a:t>
            </a:r>
            <a:r>
              <a:rPr lang="en-US" sz="20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Google Sans Text"/>
                <a:cs typeface="Arial"/>
              </a:rPr>
              <a:t>dynamically routes individual PE accumulator outputs (out[r][c]) to output buses based on cycle position.</a:t>
            </a:r>
            <a:br>
              <a:rPr/>
            </a:br>
            <a:endParaRPr/>
          </a:p>
          <a:p>
            <a:pPr lvl="1">
              <a:buFont typeface="Wingdings"/>
              <a:buChar char="§"/>
              <a:defRPr/>
            </a:pPr>
            <a:r>
              <a:rPr/>
              <a:t>FIFO Write Enables (out_cs_winc1_3): </a:t>
            </a:r>
            <a:r>
              <a:rPr lang="en-US" sz="20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Google Sans Text"/>
                <a:cs typeface="Arial"/>
              </a:rPr>
              <a:t>generates staged write-increment pulses to push completed calculations into output buffers safely</a:t>
            </a:r>
            <a:r>
              <a:rPr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9527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0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 Black"/>
                <a:ea typeface="Arial Black"/>
                <a:cs typeface="Arial Black"/>
              </a:rPr>
              <a:t>Synchronous FIFO</a:t>
            </a:r>
            <a:endParaRPr/>
          </a:p>
        </p:txBody>
      </p:sp>
      <p:sp>
        <p:nvSpPr>
          <p:cNvPr id="81745455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553482"/>
            <a:ext cx="10515600" cy="459694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buFont typeface="Wingdings"/>
              <a:buChar char="§"/>
              <a:defRPr/>
            </a:pPr>
            <a:r>
              <a:rPr/>
              <a:t>Module Name: sync_fifo</a:t>
            </a:r>
            <a:br>
              <a:rPr/>
            </a:br>
            <a:endParaRPr/>
          </a:p>
          <a:p>
            <a:pPr>
              <a:buFont typeface="Wingdings"/>
              <a:buChar char="§"/>
              <a:defRPr/>
            </a:pPr>
            <a:r>
              <a:rPr/>
              <a:t>Function: small memory queue that moves data safely between stages.</a:t>
            </a:r>
            <a:br>
              <a:rPr/>
            </a:br>
            <a:endParaRPr/>
          </a:p>
          <a:p>
            <a:pPr lvl="0">
              <a:buFont typeface="Wingdings"/>
              <a:buChar char="§"/>
              <a:defRPr/>
            </a:pPr>
            <a:r>
              <a:rPr lang="en-US" sz="24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We used </a:t>
            </a:r>
            <a:r>
              <a:rPr lang="en-US" sz="24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Synchronous FIFO</a:t>
            </a:r>
            <a:r>
              <a:rPr lang="en-US" sz="24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 instead of Asynchronous FIFO because of speed, simple and small design.</a:t>
            </a:r>
            <a:br>
              <a:rPr lang="en-US" sz="24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</a:br>
            <a:endParaRPr lang="en-US" sz="2000" b="0" i="0" u="none" strike="noStrike" cap="none" spc="0">
              <a:solidFill>
                <a:schemeClr val="bg1">
                  <a:lumMod val="95000"/>
                </a:schemeClr>
              </a:solidFill>
              <a:latin typeface="Arial"/>
              <a:ea typeface="Arial"/>
              <a:cs typeface="Arial"/>
            </a:endParaRPr>
          </a:p>
          <a:p>
            <a:pPr lvl="0">
              <a:buFont typeface="Wingdings"/>
              <a:buChar char="§"/>
              <a:defRPr/>
            </a:pPr>
            <a:r>
              <a:rPr/>
              <a:t>Flow Control and Saf</a:t>
            </a:r>
            <a:r>
              <a:rPr/>
              <a:t>ety:</a:t>
            </a:r>
            <a:endParaRPr/>
          </a:p>
          <a:p>
            <a:pPr lvl="1"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Full Generation:</a:t>
            </a:r>
            <a:r>
              <a:rPr lang="ar-EG" sz="20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sz="20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sserts full signal back to control_system1 to automatically stall accelerator writes when buffers fill up.</a:t>
            </a:r>
            <a:br>
              <a:rPr/>
            </a:br>
            <a:endParaRPr/>
          </a:p>
          <a:p>
            <a:pPr lvl="1"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Empty Generation: asserts empty signal to external software read-drivers when output data is unavailable.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13258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6" y="3429000"/>
            <a:ext cx="7312150" cy="1325561"/>
          </a:xfrm>
        </p:spPr>
        <p:txBody>
          <a:bodyPr/>
          <a:lstStyle/>
          <a:p>
            <a:pPr>
              <a:defRPr/>
            </a:pPr>
            <a:r>
              <a:rPr/>
              <a:t>Thank You!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lent Flow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Kiro Hima</dc:creator>
  <cp:lastModifiedBy/>
  <cp:revision>9</cp:revision>
  <dcterms:modified xsi:type="dcterms:W3CDTF">2026-08-13T19:49:47Z</dcterms:modified>
</cp:coreProperties>
</file>